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MVP proves the flow end to end. To be pilot-ready we need trusted, credentialed verifiers, stronger evidence checks, real emissions factors, scale on Solana, USDC payouts on Solana and buyer tools. The biggest risk is auditor acceptance, so that is the pilot's first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47472"/>
            <a:ext cx="11155680" cy="640080"/>
          </a:xfrm>
          <a:prstGeom prst="rect">
            <a:avLst/>
          </a:prstGeom>
          <a:noFill/>
          <a:ln/>
        </p:spPr>
        <p:txBody>
          <a:bodyPr wrap="square" lIns="0" tIns="0" rIns="0" bIns="0" rtlCol="0" anchor="ctr"/>
          <a:lstStyle/>
          <a:p>
            <a:pPr indent="0" marL="0">
              <a:buNone/>
            </a:pPr>
            <a:r>
              <a:rPr lang="en-US" sz="3400" b="1" dirty="0">
                <a:solidFill>
                  <a:srgbClr val="163222"/>
                </a:solidFill>
                <a:latin typeface="Cambria" pitchFamily="34" charset="0"/>
                <a:ea typeface="Cambria" pitchFamily="34" charset="-122"/>
                <a:cs typeface="Cambria" pitchFamily="34" charset="-120"/>
              </a:rPr>
              <a:t>Scope of improvement: from demo to pilot-ready</a:t>
            </a:r>
            <a:endParaRPr lang="en-US" sz="34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800" dirty="0">
                <a:solidFill>
                  <a:srgbClr val="A3A9A5"/>
                </a:solidFill>
                <a:latin typeface="Cambria" pitchFamily="34" charset="0"/>
                <a:ea typeface="Cambria" pitchFamily="34" charset="-122"/>
                <a:cs typeface="Cambria" pitchFamily="34" charset="-120"/>
              </a:rPr>
              <a:t>The MVP proves the flow. These upgrades make it auditable at scale.</a:t>
            </a:r>
            <a:endParaRPr lang="en-US" sz="1800" dirty="0"/>
          </a:p>
        </p:txBody>
      </p:sp>
      <p:sp>
        <p:nvSpPr>
          <p:cNvPr id="4" name="Shape 2"/>
          <p:cNvSpPr/>
          <p:nvPr/>
        </p:nvSpPr>
        <p:spPr>
          <a:xfrm>
            <a:off x="502920" y="1600200"/>
            <a:ext cx="3544824" cy="2057400"/>
          </a:xfrm>
          <a:prstGeom prst="roundRect">
            <a:avLst>
              <a:gd name="adj" fmla="val 5333"/>
            </a:avLst>
          </a:prstGeom>
          <a:solidFill>
            <a:srgbClr val="EAF1E9"/>
          </a:solidFill>
          <a:ln w="12700">
            <a:solidFill>
              <a:srgbClr val="EAF1E9"/>
            </a:solidFill>
            <a:prstDash val="solid"/>
          </a:ln>
        </p:spPr>
      </p:sp>
      <p:sp>
        <p:nvSpPr>
          <p:cNvPr id="5" name="Shape 3"/>
          <p:cNvSpPr/>
          <p:nvPr/>
        </p:nvSpPr>
        <p:spPr>
          <a:xfrm>
            <a:off x="704088" y="1801368"/>
            <a:ext cx="475488" cy="475488"/>
          </a:xfrm>
          <a:prstGeom prst="ellipse">
            <a:avLst/>
          </a:prstGeom>
          <a:solidFill>
            <a:srgbClr val="E8A317"/>
          </a:solidFill>
          <a:ln w="12700">
            <a:solidFill>
              <a:srgbClr val="E8A317"/>
            </a:solidFill>
            <a:prstDash val="solid"/>
          </a:ln>
        </p:spPr>
      </p:sp>
      <p:pic>
        <p:nvPicPr>
          <p:cNvPr id="6" name="Image 0" descr="preencoded.png">    </p:cNvPr>
          <p:cNvPicPr>
            <a:picLocks noChangeAspect="1"/>
          </p:cNvPicPr>
          <p:nvPr/>
        </p:nvPicPr>
        <p:blipFill>
          <a:blip r:embed="rId1"/>
          <a:stretch>
            <a:fillRect/>
          </a:stretch>
        </p:blipFill>
        <p:spPr>
          <a:xfrm>
            <a:off x="822960" y="1920240"/>
            <a:ext cx="237744" cy="237744"/>
          </a:xfrm>
          <a:prstGeom prst="rect">
            <a:avLst/>
          </a:prstGeom>
        </p:spPr>
      </p:pic>
      <p:sp>
        <p:nvSpPr>
          <p:cNvPr id="7" name="Text 4"/>
          <p:cNvSpPr txBox="1"/>
          <p:nvPr/>
        </p:nvSpPr>
        <p:spPr>
          <a:xfrm>
            <a:off x="1325880" y="1801368"/>
            <a:ext cx="2538984" cy="475488"/>
          </a:xfrm>
          <a:prstGeom prst="rect">
            <a:avLst/>
          </a:prstGeom>
          <a:noFill/>
          <a:ln/>
        </p:spPr>
        <p:txBody>
          <a:bodyPr wrap="square" lIns="0" tIns="0" rIns="0" bIns="0" rtlCol="0" anchor="ctr"/>
          <a:lstStyle/>
          <a:p>
            <a:pPr indent="0" marL="0">
              <a:buNone/>
            </a:pPr>
            <a:r>
              <a:rPr lang="en-US" sz="1700" b="1" dirty="0">
                <a:solidFill>
                  <a:srgbClr val="163222"/>
                </a:solidFill>
                <a:latin typeface="Calibri" pitchFamily="34" charset="0"/>
                <a:ea typeface="Calibri" pitchFamily="34" charset="-122"/>
                <a:cs typeface="Calibri" pitchFamily="34" charset="-120"/>
              </a:rPr>
              <a:t>Trusted verifiers</a:t>
            </a:r>
            <a:endParaRPr lang="en-US" sz="1700" dirty="0"/>
          </a:p>
        </p:txBody>
      </p:sp>
      <p:sp>
        <p:nvSpPr>
          <p:cNvPr id="8" name="Text 5"/>
          <p:cNvSpPr txBox="1"/>
          <p:nvPr/>
        </p:nvSpPr>
        <p:spPr>
          <a:xfrm>
            <a:off x="704088" y="2441448"/>
            <a:ext cx="3142488" cy="1069848"/>
          </a:xfrm>
          <a:prstGeom prst="rect">
            <a:avLst/>
          </a:prstGeom>
          <a:noFill/>
          <a:ln/>
        </p:spPr>
        <p:txBody>
          <a:bodyPr wrap="square" lIns="0" tIns="0" rIns="0" bIns="0" rtlCol="0" anchor="t"/>
          <a:lstStyle/>
          <a:p>
            <a:pPr indent="0" marL="0">
              <a:spcAft>
                <a:spcPts val="600"/>
              </a:spcAft>
              <a:buNone/>
            </a:pPr>
            <a:r>
              <a:rPr lang="en-US" sz="1200" i="1" dirty="0">
                <a:solidFill>
                  <a:srgbClr val="5F6B64"/>
                </a:solidFill>
                <a:latin typeface="Calibri" pitchFamily="34" charset="0"/>
                <a:ea typeface="Calibri" pitchFamily="34" charset="-122"/>
                <a:cs typeface="Calibri" pitchFamily="34" charset="-120"/>
              </a:rPr>
              <a:t>Today: one mock advisor.</a:t>
            </a:r>
            <a:endParaRPr lang="en-US" sz="1200" dirty="0"/>
          </a:p>
          <a:p>
            <a:pPr indent="0" marL="0">
              <a:buNone/>
            </a:pPr>
            <a:r>
              <a:rPr lang="en-US" sz="1300" dirty="0">
                <a:solidFill>
                  <a:srgbClr val="163222"/>
                </a:solidFill>
                <a:latin typeface="Calibri" pitchFamily="34" charset="0"/>
                <a:ea typeface="Calibri" pitchFamily="34" charset="-122"/>
                <a:cs typeface="Calibri" pitchFamily="34" charset="-120"/>
              </a:rPr>
              <a:t>Next: signed approvals with Token-2022 non-transferable verifier credentials, revoked after bad sign-offs.</a:t>
            </a:r>
            <a:endParaRPr lang="en-US" sz="1200" dirty="0"/>
          </a:p>
        </p:txBody>
      </p:sp>
      <p:sp>
        <p:nvSpPr>
          <p:cNvPr id="9" name="Shape 6"/>
          <p:cNvSpPr/>
          <p:nvPr/>
        </p:nvSpPr>
        <p:spPr>
          <a:xfrm>
            <a:off x="4322064" y="1600200"/>
            <a:ext cx="3544824" cy="2057400"/>
          </a:xfrm>
          <a:prstGeom prst="roundRect">
            <a:avLst>
              <a:gd name="adj" fmla="val 5333"/>
            </a:avLst>
          </a:prstGeom>
          <a:solidFill>
            <a:srgbClr val="EAF1E9"/>
          </a:solidFill>
          <a:ln w="12700">
            <a:solidFill>
              <a:srgbClr val="EAF1E9"/>
            </a:solidFill>
            <a:prstDash val="solid"/>
          </a:ln>
        </p:spPr>
      </p:sp>
      <p:sp>
        <p:nvSpPr>
          <p:cNvPr id="10" name="Shape 7"/>
          <p:cNvSpPr/>
          <p:nvPr/>
        </p:nvSpPr>
        <p:spPr>
          <a:xfrm>
            <a:off x="4523232" y="1801368"/>
            <a:ext cx="475488" cy="475488"/>
          </a:xfrm>
          <a:prstGeom prst="ellipse">
            <a:avLst/>
          </a:prstGeom>
          <a:solidFill>
            <a:srgbClr val="2E6B40"/>
          </a:solidFill>
          <a:ln w="12700">
            <a:solidFill>
              <a:srgbClr val="2E6B40"/>
            </a:solidFill>
            <a:prstDash val="solid"/>
          </a:ln>
        </p:spPr>
      </p:sp>
      <p:pic>
        <p:nvPicPr>
          <p:cNvPr id="11" name="Image 1" descr="preencoded.png">    </p:cNvPr>
          <p:cNvPicPr>
            <a:picLocks noChangeAspect="1"/>
          </p:cNvPicPr>
          <p:nvPr/>
        </p:nvPicPr>
        <p:blipFill>
          <a:blip r:embed="rId2"/>
          <a:stretch>
            <a:fillRect/>
          </a:stretch>
        </p:blipFill>
        <p:spPr>
          <a:xfrm>
            <a:off x="4642104" y="1920240"/>
            <a:ext cx="237744" cy="237744"/>
          </a:xfrm>
          <a:prstGeom prst="rect">
            <a:avLst/>
          </a:prstGeom>
        </p:spPr>
      </p:pic>
      <p:sp>
        <p:nvSpPr>
          <p:cNvPr id="12" name="Text 8"/>
          <p:cNvSpPr txBox="1"/>
          <p:nvPr/>
        </p:nvSpPr>
        <p:spPr>
          <a:xfrm>
            <a:off x="5145024" y="1801368"/>
            <a:ext cx="2538984" cy="475488"/>
          </a:xfrm>
          <a:prstGeom prst="rect">
            <a:avLst/>
          </a:prstGeom>
          <a:noFill/>
          <a:ln/>
        </p:spPr>
        <p:txBody>
          <a:bodyPr wrap="square" lIns="0" tIns="0" rIns="0" bIns="0" rtlCol="0" anchor="ctr"/>
          <a:lstStyle/>
          <a:p>
            <a:pPr indent="0" marL="0">
              <a:buNone/>
            </a:pPr>
            <a:r>
              <a:rPr lang="en-US" sz="1700" b="1" dirty="0">
                <a:solidFill>
                  <a:srgbClr val="163222"/>
                </a:solidFill>
                <a:latin typeface="Calibri" pitchFamily="34" charset="0"/>
                <a:ea typeface="Calibri" pitchFamily="34" charset="-122"/>
                <a:cs typeface="Calibri" pitchFamily="34" charset="-120"/>
              </a:rPr>
              <a:t>Stronger evidence</a:t>
            </a:r>
            <a:endParaRPr lang="en-US" sz="1700" dirty="0"/>
          </a:p>
        </p:txBody>
      </p:sp>
      <p:sp>
        <p:nvSpPr>
          <p:cNvPr id="13" name="Text 9"/>
          <p:cNvSpPr txBox="1"/>
          <p:nvPr/>
        </p:nvSpPr>
        <p:spPr>
          <a:xfrm>
            <a:off x="4523232" y="2441448"/>
            <a:ext cx="3142488" cy="1069848"/>
          </a:xfrm>
          <a:prstGeom prst="rect">
            <a:avLst/>
          </a:prstGeom>
          <a:noFill/>
          <a:ln/>
        </p:spPr>
        <p:txBody>
          <a:bodyPr wrap="square" lIns="0" tIns="0" rIns="0" bIns="0" rtlCol="0" anchor="t"/>
          <a:lstStyle/>
          <a:p>
            <a:pPr indent="0" marL="0">
              <a:spcAft>
                <a:spcPts val="600"/>
              </a:spcAft>
              <a:buNone/>
            </a:pPr>
            <a:r>
              <a:rPr lang="en-US" sz="1200" i="1" dirty="0">
                <a:solidFill>
                  <a:srgbClr val="5F6B64"/>
                </a:solidFill>
                <a:latin typeface="Calibri" pitchFamily="34" charset="0"/>
                <a:ea typeface="Calibri" pitchFamily="34" charset="-122"/>
                <a:cs typeface="Calibri" pitchFamily="34" charset="-120"/>
              </a:rPr>
              <a:t>Today: one photo and its hash.</a:t>
            </a:r>
            <a:endParaRPr lang="en-US" sz="1200" dirty="0"/>
          </a:p>
          <a:p>
            <a:pPr indent="0" marL="0">
              <a:buNone/>
            </a:pPr>
            <a:r>
              <a:rPr lang="en-US" sz="1300" dirty="0">
                <a:solidFill>
                  <a:srgbClr val="163222"/>
                </a:solidFill>
                <a:latin typeface="Calibri" pitchFamily="34" charset="0"/>
                <a:ea typeface="Calibri" pitchFamily="34" charset="-122"/>
                <a:cs typeface="Calibri" pitchFamily="34" charset="-120"/>
              </a:rPr>
              <a:t>Next: receipt checks, photo date and GPS, duplicate-photo detection, GPS on slurry equipment, satellite grass data.</a:t>
            </a:r>
            <a:endParaRPr lang="en-US" sz="1200" dirty="0"/>
          </a:p>
        </p:txBody>
      </p:sp>
      <p:sp>
        <p:nvSpPr>
          <p:cNvPr id="14" name="Shape 10"/>
          <p:cNvSpPr/>
          <p:nvPr/>
        </p:nvSpPr>
        <p:spPr>
          <a:xfrm>
            <a:off x="8141208" y="1600200"/>
            <a:ext cx="3544824" cy="2057400"/>
          </a:xfrm>
          <a:prstGeom prst="roundRect">
            <a:avLst>
              <a:gd name="adj" fmla="val 5333"/>
            </a:avLst>
          </a:prstGeom>
          <a:solidFill>
            <a:srgbClr val="EAF1E9"/>
          </a:solidFill>
          <a:ln w="12700">
            <a:solidFill>
              <a:srgbClr val="EAF1E9"/>
            </a:solidFill>
            <a:prstDash val="solid"/>
          </a:ln>
        </p:spPr>
      </p:sp>
      <p:sp>
        <p:nvSpPr>
          <p:cNvPr id="15" name="Shape 11"/>
          <p:cNvSpPr/>
          <p:nvPr/>
        </p:nvSpPr>
        <p:spPr>
          <a:xfrm>
            <a:off x="8342376" y="1801368"/>
            <a:ext cx="475488" cy="475488"/>
          </a:xfrm>
          <a:prstGeom prst="ellipse">
            <a:avLst/>
          </a:prstGeom>
          <a:solidFill>
            <a:srgbClr val="2E6B40"/>
          </a:solidFill>
          <a:ln w="12700">
            <a:solidFill>
              <a:srgbClr val="2E6B40"/>
            </a:solidFill>
            <a:prstDash val="solid"/>
          </a:ln>
        </p:spPr>
      </p:sp>
      <p:pic>
        <p:nvPicPr>
          <p:cNvPr id="16" name="Image 2" descr="preencoded.png">    </p:cNvPr>
          <p:cNvPicPr>
            <a:picLocks noChangeAspect="1"/>
          </p:cNvPicPr>
          <p:nvPr/>
        </p:nvPicPr>
        <p:blipFill>
          <a:blip r:embed="rId3"/>
          <a:stretch>
            <a:fillRect/>
          </a:stretch>
        </p:blipFill>
        <p:spPr>
          <a:xfrm>
            <a:off x="8461248" y="1920240"/>
            <a:ext cx="237744" cy="237744"/>
          </a:xfrm>
          <a:prstGeom prst="rect">
            <a:avLst/>
          </a:prstGeom>
        </p:spPr>
      </p:pic>
      <p:sp>
        <p:nvSpPr>
          <p:cNvPr id="17" name="Text 12"/>
          <p:cNvSpPr txBox="1"/>
          <p:nvPr/>
        </p:nvSpPr>
        <p:spPr>
          <a:xfrm>
            <a:off x="8964168" y="1801368"/>
            <a:ext cx="2538984" cy="475488"/>
          </a:xfrm>
          <a:prstGeom prst="rect">
            <a:avLst/>
          </a:prstGeom>
          <a:noFill/>
          <a:ln/>
        </p:spPr>
        <p:txBody>
          <a:bodyPr wrap="square" lIns="0" tIns="0" rIns="0" bIns="0" rtlCol="0" anchor="ctr"/>
          <a:lstStyle/>
          <a:p>
            <a:pPr indent="0" marL="0">
              <a:buNone/>
            </a:pPr>
            <a:r>
              <a:rPr lang="en-US" sz="1700" b="1" dirty="0">
                <a:solidFill>
                  <a:srgbClr val="163222"/>
                </a:solidFill>
                <a:latin typeface="Calibri" pitchFamily="34" charset="0"/>
                <a:ea typeface="Calibri" pitchFamily="34" charset="-122"/>
                <a:cs typeface="Calibri" pitchFamily="34" charset="-120"/>
              </a:rPr>
              <a:t>Real emissions factors</a:t>
            </a:r>
            <a:endParaRPr lang="en-US" sz="1700" dirty="0"/>
          </a:p>
        </p:txBody>
      </p:sp>
      <p:sp>
        <p:nvSpPr>
          <p:cNvPr id="18" name="Text 13"/>
          <p:cNvSpPr txBox="1"/>
          <p:nvPr/>
        </p:nvSpPr>
        <p:spPr>
          <a:xfrm>
            <a:off x="8342376" y="2441448"/>
            <a:ext cx="3142488" cy="1069848"/>
          </a:xfrm>
          <a:prstGeom prst="rect">
            <a:avLst/>
          </a:prstGeom>
          <a:noFill/>
          <a:ln/>
        </p:spPr>
        <p:txBody>
          <a:bodyPr wrap="square" lIns="0" tIns="0" rIns="0" bIns="0" rtlCol="0" anchor="t"/>
          <a:lstStyle/>
          <a:p>
            <a:pPr indent="0" marL="0">
              <a:spcAft>
                <a:spcPts val="600"/>
              </a:spcAft>
              <a:buNone/>
            </a:pPr>
            <a:r>
              <a:rPr lang="en-US" sz="1200" i="1" dirty="0">
                <a:solidFill>
                  <a:srgbClr val="5F6B64"/>
                </a:solidFill>
                <a:latin typeface="Calibri" pitchFamily="34" charset="0"/>
                <a:ea typeface="Calibri" pitchFamily="34" charset="-122"/>
                <a:cs typeface="Calibri" pitchFamily="34" charset="-120"/>
              </a:rPr>
              <a:t>Today: fixed, labelled estimates.</a:t>
            </a:r>
            <a:endParaRPr lang="en-US" sz="1200" dirty="0"/>
          </a:p>
          <a:p>
            <a:pPr indent="0" marL="0">
              <a:buNone/>
            </a:pPr>
            <a:r>
              <a:rPr lang="en-US" sz="1300" dirty="0">
                <a:solidFill>
                  <a:srgbClr val="163222"/>
                </a:solidFill>
                <a:latin typeface="Calibri" pitchFamily="34" charset="0"/>
                <a:ea typeface="Calibri" pitchFamily="34" charset="-122"/>
                <a:cs typeface="Calibri" pitchFamily="34" charset="-120"/>
              </a:rPr>
              <a:t>Next: per-farm figures using Teagasc and AgNav factors.</a:t>
            </a:r>
            <a:endParaRPr lang="en-US" sz="1200" dirty="0"/>
          </a:p>
        </p:txBody>
      </p:sp>
      <p:sp>
        <p:nvSpPr>
          <p:cNvPr id="19" name="Shape 14"/>
          <p:cNvSpPr/>
          <p:nvPr/>
        </p:nvSpPr>
        <p:spPr>
          <a:xfrm>
            <a:off x="502920" y="3931920"/>
            <a:ext cx="3544824" cy="2057400"/>
          </a:xfrm>
          <a:prstGeom prst="roundRect">
            <a:avLst>
              <a:gd name="adj" fmla="val 5333"/>
            </a:avLst>
          </a:prstGeom>
          <a:solidFill>
            <a:srgbClr val="EAF1E9"/>
          </a:solidFill>
          <a:ln w="12700">
            <a:solidFill>
              <a:srgbClr val="EAF1E9"/>
            </a:solidFill>
            <a:prstDash val="solid"/>
          </a:ln>
        </p:spPr>
      </p:sp>
      <p:sp>
        <p:nvSpPr>
          <p:cNvPr id="20" name="Shape 15"/>
          <p:cNvSpPr/>
          <p:nvPr/>
        </p:nvSpPr>
        <p:spPr>
          <a:xfrm>
            <a:off x="704088" y="4133088"/>
            <a:ext cx="475488" cy="475488"/>
          </a:xfrm>
          <a:prstGeom prst="ellipse">
            <a:avLst/>
          </a:prstGeom>
          <a:solidFill>
            <a:srgbClr val="2E6B40"/>
          </a:solidFill>
          <a:ln w="12700">
            <a:solidFill>
              <a:srgbClr val="2E6B40"/>
            </a:solidFill>
            <a:prstDash val="solid"/>
          </a:ln>
        </p:spPr>
      </p:sp>
      <p:pic>
        <p:nvPicPr>
          <p:cNvPr id="21" name="Image 3" descr="preencoded.png">    </p:cNvPr>
          <p:cNvPicPr>
            <a:picLocks noChangeAspect="1"/>
          </p:cNvPicPr>
          <p:nvPr/>
        </p:nvPicPr>
        <p:blipFill>
          <a:blip r:embed="rId4"/>
          <a:stretch>
            <a:fillRect/>
          </a:stretch>
        </p:blipFill>
        <p:spPr>
          <a:xfrm>
            <a:off x="822960" y="4251960"/>
            <a:ext cx="237744" cy="237744"/>
          </a:xfrm>
          <a:prstGeom prst="rect">
            <a:avLst/>
          </a:prstGeom>
        </p:spPr>
      </p:pic>
      <p:sp>
        <p:nvSpPr>
          <p:cNvPr id="22" name="Text 16"/>
          <p:cNvSpPr txBox="1"/>
          <p:nvPr/>
        </p:nvSpPr>
        <p:spPr>
          <a:xfrm>
            <a:off x="1325880" y="4133088"/>
            <a:ext cx="2538984" cy="475488"/>
          </a:xfrm>
          <a:prstGeom prst="rect">
            <a:avLst/>
          </a:prstGeom>
          <a:noFill/>
          <a:ln/>
        </p:spPr>
        <p:txBody>
          <a:bodyPr wrap="square" lIns="0" tIns="0" rIns="0" bIns="0" rtlCol="0" anchor="ctr"/>
          <a:lstStyle/>
          <a:p>
            <a:pPr indent="0" marL="0">
              <a:buNone/>
            </a:pPr>
            <a:r>
              <a:rPr lang="en-US" sz="1700" b="1" dirty="0">
                <a:solidFill>
                  <a:srgbClr val="163222"/>
                </a:solidFill>
                <a:latin typeface="Calibri" pitchFamily="34" charset="0"/>
                <a:ea typeface="Calibri" pitchFamily="34" charset="-122"/>
                <a:cs typeface="Calibri" pitchFamily="34" charset="-120"/>
              </a:rPr>
              <a:t>Scale on Solana</a:t>
            </a:r>
            <a:endParaRPr lang="en-US" sz="1700" dirty="0"/>
          </a:p>
        </p:txBody>
      </p:sp>
      <p:sp>
        <p:nvSpPr>
          <p:cNvPr id="23" name="Text 17"/>
          <p:cNvSpPr txBox="1"/>
          <p:nvPr/>
        </p:nvSpPr>
        <p:spPr>
          <a:xfrm>
            <a:off x="704088" y="4773168"/>
            <a:ext cx="3142488" cy="1069848"/>
          </a:xfrm>
          <a:prstGeom prst="rect">
            <a:avLst/>
          </a:prstGeom>
          <a:noFill/>
          <a:ln/>
        </p:spPr>
        <p:txBody>
          <a:bodyPr wrap="square" lIns="0" tIns="0" rIns="0" bIns="0" rtlCol="0" anchor="t"/>
          <a:lstStyle/>
          <a:p>
            <a:pPr indent="0" marL="0">
              <a:spcAft>
                <a:spcPts val="600"/>
              </a:spcAft>
              <a:buNone/>
            </a:pPr>
            <a:r>
              <a:rPr lang="en-US" sz="1200" i="1" dirty="0">
                <a:solidFill>
                  <a:srgbClr val="5F6B64"/>
                </a:solidFill>
                <a:latin typeface="Calibri" pitchFamily="34" charset="0"/>
                <a:ea typeface="Calibri" pitchFamily="34" charset="-122"/>
                <a:cs typeface="Calibri" pitchFamily="34" charset="-120"/>
              </a:rPr>
              <a:t>Today: one token per action on devnet.</a:t>
            </a:r>
            <a:endParaRPr lang="en-US" sz="1200" dirty="0"/>
          </a:p>
          <a:p>
            <a:pPr indent="0" marL="0">
              <a:buNone/>
            </a:pPr>
            <a:r>
              <a:rPr lang="en-US" sz="1300" dirty="0">
                <a:solidFill>
                  <a:srgbClr val="163222"/>
                </a:solidFill>
                <a:latin typeface="Calibri" pitchFamily="34" charset="0"/>
                <a:ea typeface="Calibri" pitchFamily="34" charset="-122"/>
                <a:cs typeface="Calibri" pitchFamily="34" charset="-120"/>
              </a:rPr>
              <a:t>Next: compressed NFTs for mass issuance, transfer hooks that lock retired records, then mainnet.</a:t>
            </a:r>
            <a:endParaRPr lang="en-US" sz="1200" dirty="0"/>
          </a:p>
        </p:txBody>
      </p:sp>
      <p:sp>
        <p:nvSpPr>
          <p:cNvPr id="24" name="Shape 18"/>
          <p:cNvSpPr/>
          <p:nvPr/>
        </p:nvSpPr>
        <p:spPr>
          <a:xfrm>
            <a:off x="4322064" y="3931920"/>
            <a:ext cx="3544824" cy="2057400"/>
          </a:xfrm>
          <a:prstGeom prst="roundRect">
            <a:avLst>
              <a:gd name="adj" fmla="val 5333"/>
            </a:avLst>
          </a:prstGeom>
          <a:solidFill>
            <a:srgbClr val="EAF1E9"/>
          </a:solidFill>
          <a:ln w="12700">
            <a:solidFill>
              <a:srgbClr val="EAF1E9"/>
            </a:solidFill>
            <a:prstDash val="solid"/>
          </a:ln>
        </p:spPr>
      </p:sp>
      <p:sp>
        <p:nvSpPr>
          <p:cNvPr id="25" name="Shape 19"/>
          <p:cNvSpPr/>
          <p:nvPr/>
        </p:nvSpPr>
        <p:spPr>
          <a:xfrm>
            <a:off x="4523232" y="4133088"/>
            <a:ext cx="475488" cy="475488"/>
          </a:xfrm>
          <a:prstGeom prst="ellipse">
            <a:avLst/>
          </a:prstGeom>
          <a:solidFill>
            <a:srgbClr val="2E6B40"/>
          </a:solidFill>
          <a:ln w="12700">
            <a:solidFill>
              <a:srgbClr val="2E6B40"/>
            </a:solidFill>
            <a:prstDash val="solid"/>
          </a:ln>
        </p:spPr>
      </p:sp>
      <p:pic>
        <p:nvPicPr>
          <p:cNvPr id="26" name="Image 4" descr="preencoded.png">    </p:cNvPr>
          <p:cNvPicPr>
            <a:picLocks noChangeAspect="1"/>
          </p:cNvPicPr>
          <p:nvPr/>
        </p:nvPicPr>
        <p:blipFill>
          <a:blip r:embed="rId5"/>
          <a:stretch>
            <a:fillRect/>
          </a:stretch>
        </p:blipFill>
        <p:spPr>
          <a:xfrm>
            <a:off x="4642104" y="4251960"/>
            <a:ext cx="237744" cy="237744"/>
          </a:xfrm>
          <a:prstGeom prst="rect">
            <a:avLst/>
          </a:prstGeom>
        </p:spPr>
      </p:pic>
      <p:sp>
        <p:nvSpPr>
          <p:cNvPr id="27" name="Text 20"/>
          <p:cNvSpPr txBox="1"/>
          <p:nvPr/>
        </p:nvSpPr>
        <p:spPr>
          <a:xfrm>
            <a:off x="5145024" y="4133088"/>
            <a:ext cx="2538984" cy="475488"/>
          </a:xfrm>
          <a:prstGeom prst="rect">
            <a:avLst/>
          </a:prstGeom>
          <a:noFill/>
          <a:ln/>
        </p:spPr>
        <p:txBody>
          <a:bodyPr wrap="square" lIns="0" tIns="0" rIns="0" bIns="0" rtlCol="0" anchor="ctr"/>
          <a:lstStyle/>
          <a:p>
            <a:pPr indent="0" marL="0">
              <a:buNone/>
            </a:pPr>
            <a:r>
              <a:rPr lang="en-US" sz="1700" b="1" dirty="0">
                <a:solidFill>
                  <a:srgbClr val="163222"/>
                </a:solidFill>
                <a:latin typeface="Calibri" pitchFamily="34" charset="0"/>
                <a:ea typeface="Calibri" pitchFamily="34" charset="-122"/>
                <a:cs typeface="Calibri" pitchFamily="34" charset="-120"/>
              </a:rPr>
              <a:t>USDC payouts on Solana</a:t>
            </a:r>
            <a:endParaRPr lang="en-US" sz="1700" dirty="0"/>
          </a:p>
        </p:txBody>
      </p:sp>
      <p:sp>
        <p:nvSpPr>
          <p:cNvPr id="28" name="Text 21"/>
          <p:cNvSpPr txBox="1"/>
          <p:nvPr/>
        </p:nvSpPr>
        <p:spPr>
          <a:xfrm>
            <a:off x="4523232" y="4773168"/>
            <a:ext cx="3142488" cy="1069848"/>
          </a:xfrm>
          <a:prstGeom prst="rect">
            <a:avLst/>
          </a:prstGeom>
          <a:noFill/>
          <a:ln/>
        </p:spPr>
        <p:txBody>
          <a:bodyPr wrap="square" lIns="0" tIns="0" rIns="0" bIns="0" rtlCol="0" anchor="t"/>
          <a:lstStyle/>
          <a:p>
            <a:pPr indent="0" marL="0">
              <a:spcAft>
                <a:spcPts val="600"/>
              </a:spcAft>
              <a:buNone/>
            </a:pPr>
            <a:r>
              <a:rPr lang="en-US" sz="1200" i="1" dirty="0">
                <a:solidFill>
                  <a:srgbClr val="5F6B64"/>
                </a:solidFill>
                <a:latin typeface="Calibri" pitchFamily="34" charset="0"/>
                <a:ea typeface="Calibri" pitchFamily="34" charset="-122"/>
                <a:cs typeface="Calibri" pitchFamily="34" charset="-120"/>
              </a:rPr>
              <a:t>Today: a 0.0001 SOL demo payment.</a:t>
            </a:r>
            <a:endParaRPr lang="en-US" sz="1200" dirty="0"/>
          </a:p>
          <a:p>
            <a:pPr indent="0" marL="0">
              <a:buNone/>
            </a:pPr>
            <a:r>
              <a:rPr lang="en-US" sz="1300" dirty="0">
                <a:solidFill>
                  <a:srgbClr val="163222"/>
                </a:solidFill>
                <a:latin typeface="Calibri" pitchFamily="34" charset="0"/>
                <a:ea typeface="Calibri" pitchFamily="34" charset="-122"/>
                <a:cs typeface="Calibri" pitchFamily="34" charset="-120"/>
              </a:rPr>
              <a:t>Next: stable USDC payouts on Solana, settled in the same transaction as the token transfer.</a:t>
            </a:r>
            <a:endParaRPr lang="en-US" sz="1200" dirty="0"/>
          </a:p>
        </p:txBody>
      </p:sp>
      <p:sp>
        <p:nvSpPr>
          <p:cNvPr id="29" name="Shape 22"/>
          <p:cNvSpPr/>
          <p:nvPr/>
        </p:nvSpPr>
        <p:spPr>
          <a:xfrm>
            <a:off x="8141208" y="3931920"/>
            <a:ext cx="3544824" cy="2057400"/>
          </a:xfrm>
          <a:prstGeom prst="roundRect">
            <a:avLst>
              <a:gd name="adj" fmla="val 5333"/>
            </a:avLst>
          </a:prstGeom>
          <a:solidFill>
            <a:srgbClr val="EAF1E9"/>
          </a:solidFill>
          <a:ln w="12700">
            <a:solidFill>
              <a:srgbClr val="EAF1E9"/>
            </a:solidFill>
            <a:prstDash val="solid"/>
          </a:ln>
        </p:spPr>
      </p:sp>
      <p:sp>
        <p:nvSpPr>
          <p:cNvPr id="30" name="Shape 23"/>
          <p:cNvSpPr/>
          <p:nvPr/>
        </p:nvSpPr>
        <p:spPr>
          <a:xfrm>
            <a:off x="8342376" y="4133088"/>
            <a:ext cx="475488" cy="475488"/>
          </a:xfrm>
          <a:prstGeom prst="ellipse">
            <a:avLst/>
          </a:prstGeom>
          <a:solidFill>
            <a:srgbClr val="2E6B40"/>
          </a:solidFill>
          <a:ln w="12700">
            <a:solidFill>
              <a:srgbClr val="2E6B40"/>
            </a:solidFill>
            <a:prstDash val="solid"/>
          </a:ln>
        </p:spPr>
      </p:sp>
      <p:pic>
        <p:nvPicPr>
          <p:cNvPr id="31" name="Image 5" descr="preencoded.png">    </p:cNvPr>
          <p:cNvPicPr>
            <a:picLocks noChangeAspect="1"/>
          </p:cNvPicPr>
          <p:nvPr/>
        </p:nvPicPr>
        <p:blipFill>
          <a:blip r:embed="rId6"/>
          <a:stretch>
            <a:fillRect/>
          </a:stretch>
        </p:blipFill>
        <p:spPr>
          <a:xfrm>
            <a:off x="8461248" y="4251960"/>
            <a:ext cx="237744" cy="237744"/>
          </a:xfrm>
          <a:prstGeom prst="rect">
            <a:avLst/>
          </a:prstGeom>
        </p:spPr>
      </p:pic>
      <p:sp>
        <p:nvSpPr>
          <p:cNvPr id="32" name="Text 24"/>
          <p:cNvSpPr txBox="1"/>
          <p:nvPr/>
        </p:nvSpPr>
        <p:spPr>
          <a:xfrm>
            <a:off x="8964168" y="4133088"/>
            <a:ext cx="2538984" cy="475488"/>
          </a:xfrm>
          <a:prstGeom prst="rect">
            <a:avLst/>
          </a:prstGeom>
          <a:noFill/>
          <a:ln/>
        </p:spPr>
        <p:txBody>
          <a:bodyPr wrap="square" lIns="0" tIns="0" rIns="0" bIns="0" rtlCol="0" anchor="ctr"/>
          <a:lstStyle/>
          <a:p>
            <a:pPr indent="0" marL="0">
              <a:buNone/>
            </a:pPr>
            <a:r>
              <a:rPr lang="en-US" sz="1700" b="1" dirty="0">
                <a:solidFill>
                  <a:srgbClr val="163222"/>
                </a:solidFill>
                <a:latin typeface="Calibri" pitchFamily="34" charset="0"/>
                <a:ea typeface="Calibri" pitchFamily="34" charset="-122"/>
                <a:cs typeface="Calibri" pitchFamily="34" charset="-120"/>
              </a:rPr>
              <a:t>Buyer tools</a:t>
            </a:r>
            <a:endParaRPr lang="en-US" sz="1700" dirty="0"/>
          </a:p>
        </p:txBody>
      </p:sp>
      <p:sp>
        <p:nvSpPr>
          <p:cNvPr id="33" name="Text 25"/>
          <p:cNvSpPr txBox="1"/>
          <p:nvPr/>
        </p:nvSpPr>
        <p:spPr>
          <a:xfrm>
            <a:off x="8342376" y="4773168"/>
            <a:ext cx="3142488" cy="1069848"/>
          </a:xfrm>
          <a:prstGeom prst="rect">
            <a:avLst/>
          </a:prstGeom>
          <a:noFill/>
          <a:ln/>
        </p:spPr>
        <p:txBody>
          <a:bodyPr wrap="square" lIns="0" tIns="0" rIns="0" bIns="0" rtlCol="0" anchor="t"/>
          <a:lstStyle/>
          <a:p>
            <a:pPr indent="0" marL="0">
              <a:spcAft>
                <a:spcPts val="600"/>
              </a:spcAft>
              <a:buNone/>
            </a:pPr>
            <a:r>
              <a:rPr lang="en-US" sz="1200" i="1" dirty="0">
                <a:solidFill>
                  <a:srgbClr val="5F6B64"/>
                </a:solidFill>
                <a:latin typeface="Calibri" pitchFamily="34" charset="0"/>
                <a:ea typeface="Calibri" pitchFamily="34" charset="-122"/>
                <a:cs typeface="Calibri" pitchFamily="34" charset="-120"/>
              </a:rPr>
              <a:t>Today: one shared demo page.</a:t>
            </a:r>
            <a:endParaRPr lang="en-US" sz="1200" dirty="0"/>
          </a:p>
          <a:p>
            <a:pPr indent="0" marL="0">
              <a:buNone/>
            </a:pPr>
            <a:r>
              <a:rPr lang="en-US" sz="1300" dirty="0">
                <a:solidFill>
                  <a:srgbClr val="163222"/>
                </a:solidFill>
                <a:latin typeface="Calibri" pitchFamily="34" charset="0"/>
                <a:ea typeface="Calibri" pitchFamily="34" charset="-122"/>
                <a:cs typeface="Calibri" pitchFamily="34" charset="-120"/>
              </a:rPr>
              <a:t>Next: logins and roles, a processor dashboard and audit-ready Scope 3 exports.</a:t>
            </a:r>
            <a:endParaRPr lang="en-US" sz="1200" dirty="0"/>
          </a:p>
        </p:txBody>
      </p:sp>
      <p:sp>
        <p:nvSpPr>
          <p:cNvPr id="34" name="Text 26"/>
          <p:cNvSpPr txBox="1"/>
          <p:nvPr/>
        </p:nvSpPr>
        <p:spPr>
          <a:xfrm>
            <a:off x="502920" y="6144768"/>
            <a:ext cx="11155680" cy="365760"/>
          </a:xfrm>
          <a:prstGeom prst="rect">
            <a:avLst/>
          </a:prstGeom>
          <a:noFill/>
          <a:ln/>
        </p:spPr>
        <p:txBody>
          <a:bodyPr wrap="square" lIns="0" tIns="0" rIns="0" bIns="0" rtlCol="0" anchor="t"/>
          <a:lstStyle/>
          <a:p>
            <a:pPr indent="0" marL="0">
              <a:buNone/>
            </a:pPr>
            <a:r>
              <a:rPr lang="en-US" sz="1100" i="1" dirty="0">
                <a:solidFill>
                  <a:srgbClr val="5F6B64"/>
                </a:solidFill>
                <a:latin typeface="Calibri" pitchFamily="34" charset="0"/>
                <a:ea typeface="Calibri" pitchFamily="34" charset="-122"/>
                <a:cs typeface="Calibri" pitchFamily="34" charset="-120"/>
              </a:rPr>
              <a:t>The biggest risk is auditor acceptance, not technology, so the pilot's first gate is an auditor accepting FieldProof records.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2026-09-26T14:48:17Z</dcterms:created>
  <dcterms:modified xsi:type="dcterms:W3CDTF">2026-09-26T14:48:17Z</dcterms:modified>
</cp:coreProperties>
</file>