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The browser is where farmers, verifiers and processors work; it fingerprints the evidence photo but holds no keys. The server holds the custodial keys, stores photos and names off-chain, and builds every transaction. Solana holds the public record: one token per action, minted with the evidence hash in a memo, sold with the farmer's payment in the same transaction, and burned with the buyer's name. A resale attempt fails on-chain because supply is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from a farm photo to a public, final record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layers. Keys stay on the server; only hashes and memos go on-chain.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971800" cy="3566160"/>
          </a:xfrm>
          <a:prstGeom prst="roundRect">
            <a:avLst>
              <a:gd name="adj" fmla="val 3692"/>
            </a:avLst>
          </a:prstGeom>
          <a:solidFill>
            <a:srgbClr val="EAF1E9"/>
          </a:solidFill>
          <a:ln w="12700">
            <a:solidFill>
              <a:srgbClr val="EAF1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737360"/>
            <a:ext cx="438912" cy="438912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470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16152" y="170992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16152" y="199339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no wallet, no keys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" y="2395728"/>
            <a:ext cx="267919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2523744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060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16152" y="2459736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photo and note; the photo is hashed (SHA-256) in the browser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224" y="3072384"/>
            <a:ext cx="267919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4088" y="3200400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28269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16152" y="3136392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advisor reviews, then approves or rejects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9224" y="3749040"/>
            <a:ext cx="267919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4088" y="3877056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959352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16152" y="3813048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buyer and reporting year, then buys and retires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9224" y="4425696"/>
            <a:ext cx="267919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4088" y="4553712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63600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16152" y="4489704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and Solana Explorer link for every step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977640" y="1572768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3222"/>
          </a:solidFill>
          <a:ln w="12700">
            <a:solidFill>
              <a:srgbClr val="16322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123944" y="1737360"/>
            <a:ext cx="438912" cy="438912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1847088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90872" y="1709928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690872" y="199339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· hosted on Vercel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123944" y="2377440"/>
            <a:ext cx="3227832" cy="347472"/>
          </a:xfrm>
          <a:prstGeom prst="roundRect">
            <a:avLst>
              <a:gd name="adj" fmla="val 15789"/>
            </a:avLst>
          </a:prstGeom>
          <a:solidFill>
            <a:srgbClr val="24472F"/>
          </a:solidFill>
          <a:ln w="12700">
            <a:solidFill>
              <a:srgbClr val="24472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251960" y="2377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/api/actions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5513832" y="2377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or resubmit an action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123944" y="2779776"/>
            <a:ext cx="3227832" cy="347472"/>
          </a:xfrm>
          <a:prstGeom prst="roundRect">
            <a:avLst>
              <a:gd name="adj" fmla="val 15789"/>
            </a:avLst>
          </a:prstGeom>
          <a:solidFill>
            <a:srgbClr val="24472F"/>
          </a:solidFill>
          <a:ln w="12700">
            <a:solidFill>
              <a:srgbClr val="24472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251960" y="27797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/api/verify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5513832" y="27797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record, mint 1 token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123944" y="3182112"/>
            <a:ext cx="3227832" cy="347472"/>
          </a:xfrm>
          <a:prstGeom prst="roundRect">
            <a:avLst>
              <a:gd name="adj" fmla="val 15789"/>
            </a:avLst>
          </a:prstGeom>
          <a:solidFill>
            <a:srgbClr val="24472F"/>
          </a:solidFill>
          <a:ln w="12700">
            <a:solidFill>
              <a:srgbClr val="24472F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251960" y="3182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/api/retire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513832" y="3182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farmer, transfer, burn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123944" y="3584448"/>
            <a:ext cx="3227832" cy="347472"/>
          </a:xfrm>
          <a:prstGeom prst="roundRect">
            <a:avLst>
              <a:gd name="adj" fmla="val 15789"/>
            </a:avLst>
          </a:prstGeom>
          <a:solidFill>
            <a:srgbClr val="24472F"/>
          </a:solidFill>
          <a:ln w="12700">
            <a:solidFill>
              <a:srgbClr val="24472F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251960" y="35844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/api/resell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5513832" y="35844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supply is 0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4123944" y="4023360"/>
            <a:ext cx="3227832" cy="530352"/>
          </a:xfrm>
          <a:prstGeom prst="roundRect">
            <a:avLst>
              <a:gd name="adj" fmla="val 10345"/>
            </a:avLst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4178808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581144" y="40782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signer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three keys; the issuer pays every fee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123944" y="4626864"/>
            <a:ext cx="3227832" cy="530352"/>
          </a:xfrm>
          <a:prstGeom prst="roundRect">
            <a:avLst>
              <a:gd name="adj" fmla="val 10345"/>
            </a:avLst>
          </a:prstGeom>
          <a:solidFill>
            <a:srgbClr val="24472F"/>
          </a:solidFill>
          <a:ln w="12700">
            <a:solidFill>
              <a:srgbClr val="3D6B4A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4782312"/>
            <a:ext cx="219456" cy="219456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4581144" y="4681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store (Redis / JSON)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names and history (GDPR-safe)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8001000" y="1572768"/>
            <a:ext cx="3639312" cy="3566160"/>
          </a:xfrm>
          <a:prstGeom prst="roundRect">
            <a:avLst>
              <a:gd name="adj" fmla="val 3077"/>
            </a:avLst>
          </a:prstGeom>
          <a:solidFill>
            <a:srgbClr val="EAF1E9"/>
          </a:solidFill>
          <a:ln w="12700">
            <a:solidFill>
              <a:srgbClr val="EAF1E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147304" y="1737360"/>
            <a:ext cx="438912" cy="438912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032" y="1847088"/>
            <a:ext cx="219456" cy="21945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714232" y="17099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devnet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8714232" y="199339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Token + Memo · no custom program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8147304" y="2395728"/>
            <a:ext cx="3346704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8202168" y="2523744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8202168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8714232" y="2459736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token, 0 decimals; mint authority set to none; memo: ID | record hash</a:t>
            </a:r>
            <a:endParaRPr lang="en-US" sz="1200" dirty="0"/>
          </a:p>
        </p:txBody>
      </p:sp>
      <p:sp>
        <p:nvSpPr>
          <p:cNvPr id="57" name="Shape 46"/>
          <p:cNvSpPr/>
          <p:nvPr/>
        </p:nvSpPr>
        <p:spPr>
          <a:xfrm>
            <a:off x="8147304" y="3072384"/>
            <a:ext cx="3346704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8202168" y="3200400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820216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49"/>
          <p:cNvSpPr txBox="1"/>
          <p:nvPr/>
        </p:nvSpPr>
        <p:spPr>
          <a:xfrm>
            <a:off x="8714232" y="3136392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SOL to the farmer and the token transfer, in one atomic transaction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8147304" y="3749040"/>
            <a:ext cx="3346704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8202168" y="3877056"/>
            <a:ext cx="329184" cy="329184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8202168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8714232" y="3813048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with a public memo: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| ID | buyer | year</a:t>
            </a:r>
            <a:endParaRPr lang="en-US" sz="1200" dirty="0"/>
          </a:p>
        </p:txBody>
      </p:sp>
      <p:sp>
        <p:nvSpPr>
          <p:cNvPr id="65" name="Shape 54"/>
          <p:cNvSpPr/>
          <p:nvPr/>
        </p:nvSpPr>
        <p:spPr>
          <a:xfrm>
            <a:off x="8147304" y="4425696"/>
            <a:ext cx="3346704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8202168" y="4553712"/>
            <a:ext cx="329184" cy="32918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8202168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8" name="Text 57"/>
          <p:cNvSpPr txBox="1"/>
          <p:nvPr/>
        </p:nvSpPr>
        <p:spPr>
          <a:xfrm>
            <a:off x="8714232" y="4489704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attempt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on-chain: the supply is 0, so it is never counted twice</a:t>
            </a:r>
            <a:endParaRPr lang="en-US" sz="1200" dirty="0"/>
          </a:p>
        </p:txBody>
      </p:sp>
      <p:sp>
        <p:nvSpPr>
          <p:cNvPr id="69" name="Shape 58"/>
          <p:cNvSpPr/>
          <p:nvPr/>
        </p:nvSpPr>
        <p:spPr>
          <a:xfrm>
            <a:off x="3529584" y="3401568"/>
            <a:ext cx="393192" cy="0"/>
          </a:xfrm>
          <a:prstGeom prst="line">
            <a:avLst/>
          </a:prstGeom>
          <a:noFill/>
          <a:ln w="31750">
            <a:solidFill>
              <a:srgbClr val="9DB8A2"/>
            </a:solidFill>
            <a:prstDash val="solid"/>
            <a:tailEnd type="triangle"/>
          </a:ln>
        </p:spPr>
      </p:sp>
      <p:sp>
        <p:nvSpPr>
          <p:cNvPr id="70" name="Text 59"/>
          <p:cNvSpPr txBox="1"/>
          <p:nvPr/>
        </p:nvSpPr>
        <p:spPr>
          <a:xfrm>
            <a:off x="3401568" y="2926080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hash</a:t>
            </a:r>
            <a:endParaRPr lang="en-US" sz="900" dirty="0"/>
          </a:p>
        </p:txBody>
      </p:sp>
      <p:sp>
        <p:nvSpPr>
          <p:cNvPr id="71" name="Shape 60"/>
          <p:cNvSpPr/>
          <p:nvPr/>
        </p:nvSpPr>
        <p:spPr>
          <a:xfrm>
            <a:off x="7552944" y="3401568"/>
            <a:ext cx="393192" cy="0"/>
          </a:xfrm>
          <a:prstGeom prst="line">
            <a:avLst/>
          </a:prstGeom>
          <a:noFill/>
          <a:ln w="31750">
            <a:solidFill>
              <a:srgbClr val="9DB8A2"/>
            </a:solidFill>
            <a:prstDash val="solid"/>
            <a:tailEnd type="triangle"/>
          </a:ln>
        </p:spPr>
      </p:sp>
      <p:sp>
        <p:nvSpPr>
          <p:cNvPr id="72" name="Text 61"/>
          <p:cNvSpPr txBox="1"/>
          <p:nvPr/>
        </p:nvSpPr>
        <p:spPr>
          <a:xfrm>
            <a:off x="7424928" y="2926080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502920" y="5394960"/>
            <a:ext cx="457200" cy="457200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" y="5509260"/>
            <a:ext cx="228600" cy="22860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1069848" y="539496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never reach the browser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never touch a wallet</a:t>
            </a:r>
            <a:endParaRPr lang="en-US" sz="1200" dirty="0"/>
          </a:p>
        </p:txBody>
      </p:sp>
      <p:sp>
        <p:nvSpPr>
          <p:cNvPr id="76" name="Shape 64"/>
          <p:cNvSpPr/>
          <p:nvPr/>
        </p:nvSpPr>
        <p:spPr>
          <a:xfrm>
            <a:off x="3355848" y="5394960"/>
            <a:ext cx="457200" cy="457200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7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0148" y="5509260"/>
            <a:ext cx="228600" cy="228600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3922776" y="539496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hashes on-chain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names stay off-chain</a:t>
            </a:r>
            <a:endParaRPr lang="en-US" sz="1200" dirty="0"/>
          </a:p>
        </p:txBody>
      </p:sp>
      <p:sp>
        <p:nvSpPr>
          <p:cNvPr id="79" name="Shape 66"/>
          <p:cNvSpPr/>
          <p:nvPr/>
        </p:nvSpPr>
        <p:spPr>
          <a:xfrm>
            <a:off x="6208776" y="5394960"/>
            <a:ext cx="457200" cy="457200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8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3076" y="5509260"/>
            <a:ext cx="228600" cy="228600"/>
          </a:xfrm>
          <a:prstGeom prst="rect">
            <a:avLst/>
          </a:prstGeom>
        </p:spPr>
      </p:pic>
      <p:sp>
        <p:nvSpPr>
          <p:cNvPr id="81" name="Text 67"/>
          <p:cNvSpPr txBox="1"/>
          <p:nvPr/>
        </p:nvSpPr>
        <p:spPr>
          <a:xfrm>
            <a:off x="6775704" y="539496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0.0016 SOL per record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account deposits are reclaimed</a:t>
            </a:r>
            <a:endParaRPr lang="en-US" sz="1200" dirty="0"/>
          </a:p>
        </p:txBody>
      </p:sp>
      <p:sp>
        <p:nvSpPr>
          <p:cNvPr id="82" name="Shape 68"/>
          <p:cNvSpPr/>
          <p:nvPr/>
        </p:nvSpPr>
        <p:spPr>
          <a:xfrm>
            <a:off x="9061704" y="5394960"/>
            <a:ext cx="457200" cy="457200"/>
          </a:xfrm>
          <a:prstGeom prst="ellipse">
            <a:avLst/>
          </a:prstGeom>
          <a:solidFill>
            <a:srgbClr val="2E6B40"/>
          </a:solidFill>
          <a:ln w="12700">
            <a:solidFill>
              <a:srgbClr val="2E6B40"/>
            </a:solidFill>
            <a:prstDash val="solid"/>
          </a:ln>
        </p:spPr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6004" y="5509260"/>
            <a:ext cx="228600" cy="228600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9628632" y="539496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= retirement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final and open to anyone</a:t>
            </a:r>
            <a:endParaRPr lang="en-US" sz="1200" dirty="0"/>
          </a:p>
        </p:txBody>
      </p:sp>
      <p:sp>
        <p:nvSpPr>
          <p:cNvPr id="85" name="Text 70"/>
          <p:cNvSpPr txBox="1"/>
          <p:nvPr/>
        </p:nvSpPr>
        <p:spPr>
          <a:xfrm>
            <a:off x="502920" y="60533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hash = SHA-256 of {actionId, farmId, practice, season, verifier, evidenceHash}, computed at approval and written into the mint memo. Next: compressed NFTs, Token-2022 verifier credentials and USDC payouts on Solana.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2026-09-26T14:48:17Z</dcterms:created>
  <dcterms:modified xsi:type="dcterms:W3CDTF">2026-09-26T14:48:17Z</dcterms:modified>
</cp:coreProperties>
</file>